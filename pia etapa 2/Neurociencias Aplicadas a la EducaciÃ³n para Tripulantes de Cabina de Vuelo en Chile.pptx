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3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22053" y="6477000"/>
            <a:ext cx="1245412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40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Presentación de </a:t>
            </a:r>
            <a:r>
              <a:rPr lang="en-US" sz="1050" dirty="0" smtClean="0">
                <a:solidFill>
                  <a:srgbClr val="2240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Covarrubias Espinoza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676275"/>
            <a:ext cx="2424410" cy="0"/>
          </a:xfrm>
          <a:prstGeom prst="line">
            <a:avLst/>
          </a:prstGeom>
          <a:noFill/>
          <a:ln w="19050">
            <a:solidFill>
              <a:srgbClr val="F573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4968" y="457200"/>
            <a:ext cx="249631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LA NEUROCIENCIA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58268"/>
            <a:ext cx="11338560" cy="1892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NEUROCIENCIA APLICADA A LA FORMACIÓN DE TRIPULANTES DE CABINA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3276600" y="4049018"/>
            <a:ext cx="5638800" cy="523875"/>
          </a:xfrm>
          <a:prstGeom prst="roundRect">
            <a:avLst>
              <a:gd name="adj" fmla="val 10909"/>
            </a:avLst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30918" y="4201418"/>
            <a:ext cx="51572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VISIÓN GENERAL COMPLETA</a:t>
            </a:r>
            <a:endParaRPr lang="en-US" sz="15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578" y="3251962"/>
            <a:ext cx="2793815" cy="211798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54" y="3364288"/>
            <a:ext cx="2868276" cy="427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79431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876425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032992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028825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315766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neurociencia educativa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305300" y="1876425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05300" y="2032992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33900" y="2028825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33900" y="2315766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cerebrales del aprendizaje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77200" y="1876425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77200" y="2032992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05800" y="2028825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5800" y="2315766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Neuroplasticidad y entrenamiento repetitivo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33400" y="2812256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2968823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2964656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251597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del estrés en cabina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305300" y="2812256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05300" y="2968823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33900" y="2964656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33900" y="3251597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y multitarea en vuelo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77200" y="2812256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77200" y="2968823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05800" y="2964656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05800" y="3251597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decisiones bajo presión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33400" y="3748087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3400" y="3904655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2000" y="3900488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4187428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operacional y protocolos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305300" y="3748087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05300" y="3904655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33900" y="3900488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33900" y="4187428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Ritmos circadianos y fatiga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8077200" y="3748087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77200" y="3904655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305800" y="3900488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05800" y="4187428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efectiva en cabina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33400" y="4683919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3400" y="4840486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62000" y="4836319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2000" y="5123259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Neurotecnologías en entrenamiento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4305300" y="4683919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305300" y="4840486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33900" y="4836319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33900" y="5123259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basado en neurociencia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8077200" y="4683919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077200" y="4840486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305800" y="4836319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305800" y="5123259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mental en tripulaciones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533400" y="5619750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33400" y="5776317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62000" y="5772150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62000" y="6059091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éxito en Chile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4305300" y="5619750"/>
            <a:ext cx="3581400" cy="783431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305300" y="5776317"/>
            <a:ext cx="38100" cy="470297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533900" y="5772150"/>
            <a:ext cx="3218688" cy="228600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73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533900" y="6059091"/>
            <a:ext cx="3209544" cy="192024"/>
          </a:xfrm>
          <a:prstGeom prst="rect">
            <a:avLst/>
          </a:prstGeom>
          <a:noFill/>
          <a:ln/>
        </p:spPr>
        <p:txBody>
          <a:bodyPr vert="horz" wrap="none" lIns="381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 de la neuroaviación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533400" y="752475"/>
            <a:ext cx="1811834" cy="0"/>
          </a:xfrm>
          <a:prstGeom prst="line">
            <a:avLst/>
          </a:prstGeom>
          <a:noFill/>
          <a:ln w="19050">
            <a:solidFill>
              <a:srgbClr val="F5732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4442" y="533400"/>
            <a:ext cx="186537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CONTENIDOS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114806" y="561975"/>
            <a:ext cx="159105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21805" y="990600"/>
            <a:ext cx="11384280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Neurociencia aplicada a la formación de tripulantes de cabina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5265" y="455265"/>
            <a:ext cx="10415016" cy="5943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Introducción a la neurociencia educativa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196280"/>
            <a:ext cx="142875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58230"/>
            <a:ext cx="3555950" cy="48425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6830"/>
            <a:ext cx="3810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7363" y="2396430"/>
            <a:ext cx="31821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¿Qué es la Neurociencia?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7363" y="2807791"/>
            <a:ext cx="3118104" cy="978408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estudio del sistema nervioso, enfocado en comprender el cerebro y cómo aprende, procesa información y se adapta.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7363" y="3894386"/>
            <a:ext cx="3118104" cy="740664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desvelar los mecanismos biológicos del aprendizaje y el comportamiento humano.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17950" y="1558230"/>
            <a:ext cx="3555950" cy="48425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6550" y="1786830"/>
            <a:ext cx="476250" cy="38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8113" y="2396430"/>
            <a:ext cx="31821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Relevancia en la Formación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48113" y="2804964"/>
            <a:ext cx="3118104" cy="740664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esencial para optimizar metodologías de enseñanza y el desarrollo de competencias críticas.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48113" y="3650605"/>
            <a:ext cx="3118104" cy="740664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Favorece prácticas que mejoran la atención, la memoria y la toma de decisiones en entornos profesionales.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78701" y="1558230"/>
            <a:ext cx="3556099" cy="484257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07301" y="1786830"/>
            <a:ext cx="381000" cy="381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8938" y="2396430"/>
            <a:ext cx="31821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Aplicación en Aviación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08938" y="2807791"/>
            <a:ext cx="3118104" cy="978408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 activamente la integración de neurociencia y factores humanos a través de seminarios y cursos en Chile (FACH, universidades).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08938" y="3896320"/>
            <a:ext cx="3118104" cy="49377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el liderazgo, la salud mental y el rendimiento de los tripulantes.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08938" y="4496246"/>
            <a:ext cx="3118104" cy="740664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percepción, optimiza decisiones bajo presión y contribuye a la seguridad aérea.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333500"/>
            <a:ext cx="11277600" cy="0"/>
          </a:xfrm>
          <a:prstGeom prst="line">
            <a:avLst/>
          </a:prstGeom>
          <a:noFill/>
          <a:ln w="38100">
            <a:solidFill>
              <a:srgbClr val="F573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15671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Bases cerebrales del aprendizaje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457200" y="1657350"/>
            <a:ext cx="3555950" cy="4743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695450"/>
            <a:ext cx="3555950" cy="0"/>
          </a:xfrm>
          <a:prstGeom prst="line">
            <a:avLst/>
          </a:prstGeom>
          <a:noFill/>
          <a:ln w="76200">
            <a:solidFill>
              <a:srgbClr val="E8EDFB"/>
            </a:solidFill>
            <a:prstDash val="solid"/>
          </a:ln>
        </p:spPr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6501" y="2038350"/>
            <a:ext cx="457200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0838" y="2838450"/>
            <a:ext cx="850392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Memoria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3563" y="3636466"/>
            <a:ext cx="2962656" cy="1472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fundamental para almacenar y recuperar información esencial, como procedimientos operativos y protocolos de emergencia. Su correcta gestión en el cerebro asegura la retención a largo plazo de conocimientos críticos.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17950" y="1657350"/>
            <a:ext cx="3555950" cy="4743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17950" y="1695450"/>
            <a:ext cx="3555950" cy="0"/>
          </a:xfrm>
          <a:prstGeom prst="line">
            <a:avLst/>
          </a:prstGeom>
          <a:noFill/>
          <a:ln w="76200">
            <a:solidFill>
              <a:srgbClr val="E8EDFB"/>
            </a:solidFill>
            <a:prstDash val="solid"/>
          </a:ln>
        </p:spPr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38676" y="2038350"/>
            <a:ext cx="514350" cy="571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5876" y="2838450"/>
            <a:ext cx="822960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Atención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24313" y="3638401"/>
            <a:ext cx="2962656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 del cerebro para concentrarse en estímulos relevantes y filtrar distracciones. Es vital para la monitorización de sistemas, la comunicación efectiva y la percepción situacional en entornos de alta exigencia.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78701" y="1657350"/>
            <a:ext cx="3556099" cy="4743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178701" y="1695450"/>
            <a:ext cx="3556099" cy="0"/>
          </a:xfrm>
          <a:prstGeom prst="line">
            <a:avLst/>
          </a:prstGeom>
          <a:noFill/>
          <a:ln w="76200">
            <a:solidFill>
              <a:srgbClr val="E8EDFB"/>
            </a:solidFill>
            <a:prstDash val="solid"/>
          </a:ln>
        </p:spPr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99575" y="2038350"/>
            <a:ext cx="514350" cy="571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80450" y="2838450"/>
            <a:ext cx="1773936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 de Decisiones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85138" y="3636466"/>
            <a:ext cx="2962656" cy="1472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cognitivo que selecciona el curso de acción más adecuado en situaciones complejas y bajo presión. Una toma de decisiones eficaz es crucial para la seguridad y el rendimiento óptimo de la tripulación.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007608" cy="1892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Neuroplasticidad y entrenamiento repetitivo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2495550"/>
            <a:ext cx="952500" cy="47625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52775"/>
            <a:ext cx="608990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70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MECANISMOS CEREBRALES CLAVE</a:t>
            </a:r>
            <a:endParaRPr lang="en-US" sz="1650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667125"/>
            <a:ext cx="342900" cy="3714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3629025"/>
            <a:ext cx="557784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Fortalecimiento Sináptico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52500" y="3905250"/>
            <a:ext cx="546811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práctica consolida vías neuronales para una ejecución más rápida y precisa, liberando recursos cognitivos.</a:t>
            </a:r>
            <a:endParaRPr lang="en-US" sz="1200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4629150"/>
            <a:ext cx="342900" cy="3714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500" y="4591050"/>
            <a:ext cx="557784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Engramas Motores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52500" y="4867275"/>
            <a:ext cx="546811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acciones repetidas se almacenan como patrones automáticos, facilitando respuestas reflejas y eficientes.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5629275"/>
            <a:ext cx="608990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70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EJERCICIOS RECOMENDADOS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7200" y="6105525"/>
            <a:ext cx="2857500" cy="70098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" y="6308378"/>
            <a:ext cx="266700" cy="2952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0709" y="6355928"/>
            <a:ext cx="21671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Simulaciones de Emergencia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3300" y="6105525"/>
            <a:ext cx="2857500" cy="70098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95700" y="6308378"/>
            <a:ext cx="266700" cy="2952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14800" y="6255990"/>
            <a:ext cx="214884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de Escenarios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7035105"/>
            <a:ext cx="2857500" cy="600075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600" y="7187505"/>
            <a:ext cx="266700" cy="2952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30560" y="7235056"/>
            <a:ext cx="16276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Repetición Espaciada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543300" y="7035105"/>
            <a:ext cx="2857500" cy="600075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695700" y="7187505"/>
            <a:ext cx="266700" cy="2952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13461" y="7235056"/>
            <a:ext cx="16002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Cognitivos</a:t>
            </a:r>
            <a:endParaRPr lang="en-US" sz="1200" dirty="0"/>
          </a:p>
        </p:txBody>
      </p:sp>
      <p:pic>
        <p:nvPicPr>
          <p:cNvPr id="25" name="Image 6" descr="image.png"/>
          <p:cNvPicPr>
            <a:picLocks noChangeAspect="1"/>
          </p:cNvPicPr>
          <p:nvPr/>
        </p:nvPicPr>
        <p:blipFill>
          <a:blip r:embed="rId9"/>
          <a:srcRect l="25294" r="25294"/>
          <a:stretch/>
        </p:blipFill>
        <p:spPr>
          <a:xfrm>
            <a:off x="6858000" y="0"/>
            <a:ext cx="5334000" cy="809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5671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Manejo del estrés en cabina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1238250"/>
            <a:ext cx="142875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9060" y="1676400"/>
            <a:ext cx="435254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Efectos del Cortisol en el Rendimiento Cognitivo</a:t>
            </a:r>
            <a:endParaRPr lang="en-US" sz="1800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438400"/>
            <a:ext cx="228600" cy="2571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060" y="2419350"/>
            <a:ext cx="3968496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cortisol elevado compromete funciones cerebrales esenciales en situaciones de alta tensión.</a:t>
            </a:r>
            <a:endParaRPr lang="en-US" sz="1350" dirty="0"/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438525"/>
            <a:ext cx="228600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0060" y="3419475"/>
            <a:ext cx="3968496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la toma de decisiones, la memoria operativa y la capacidad de atención.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9060" y="4162425"/>
            <a:ext cx="4343400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Disminuye la agilidad mental y la resolución de problemas, impactando la seguridad aérea.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240610" y="1676400"/>
            <a:ext cx="665683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Técnicas Neurocientíficas para Mantener la Calma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242471" y="2162175"/>
            <a:ext cx="3131790" cy="2245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471071" y="2390775"/>
            <a:ext cx="533400" cy="5334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85371" y="2490788"/>
            <a:ext cx="304800" cy="3333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70103" y="3152775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Mindfulness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70103" y="3447008"/>
            <a:ext cx="269748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 la mente para gestionar el estrés y mejorar el enfoque en contextos críticos.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602861" y="2162175"/>
            <a:ext cx="3131939" cy="2245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831461" y="2390775"/>
            <a:ext cx="533400" cy="5334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45761" y="2490788"/>
            <a:ext cx="304800" cy="3333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30568" y="3152775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Simulaciones Realistas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830568" y="3447008"/>
            <a:ext cx="269748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el cerebro mediante repetición para respuestas automáticas y eficientes.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242471" y="4636591"/>
            <a:ext cx="3131790" cy="2245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471071" y="4865191"/>
            <a:ext cx="533400" cy="5334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85371" y="4965204"/>
            <a:ext cx="304800" cy="3333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70103" y="5627191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Regulación Emocional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470103" y="5921425"/>
            <a:ext cx="269748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estrategias para mantener la claridad mental y la estabilidad emocional.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602861" y="4636591"/>
            <a:ext cx="3131939" cy="2245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8831461" y="4865191"/>
            <a:ext cx="533400" cy="5334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45761" y="4965204"/>
            <a:ext cx="304800" cy="3333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830568" y="5627191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Entrenamiento Neurocognitivo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830568" y="5921425"/>
            <a:ext cx="269748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la resiliencia y optimiza el rendimiento bajo escenarios de emergencia.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1500" y="1254472"/>
            <a:ext cx="0" cy="1971675"/>
          </a:xfrm>
          <a:prstGeom prst="line">
            <a:avLst/>
          </a:prstGeom>
          <a:noFill/>
          <a:ln w="76200">
            <a:solidFill>
              <a:srgbClr val="F573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1254472"/>
            <a:ext cx="3950208" cy="1975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175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Atención y multitarea en vuelo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71500" y="3531840"/>
            <a:ext cx="4215384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humano tiene límites para procesar múltiples estímulos simultáneamente, una realidad crítica en operaciones de vuelo. La carga cognitiva excesiva puede comprometer la seguridad.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4782369"/>
            <a:ext cx="421538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optimizar el rendimiento y priorizar información crítica, es fundamental implementar estrategias neurocognitivas.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0" y="457200"/>
            <a:ext cx="3028950" cy="2857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62600" y="685800"/>
            <a:ext cx="257175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62600" y="1295400"/>
            <a:ext cx="26426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Entrenamiento Cognitivo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562600" y="1590675"/>
            <a:ext cx="258775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la capacidad de atención selectiva y la gestión de la carga mental para mejorar la respuesta.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1550" y="457200"/>
            <a:ext cx="3028950" cy="2857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20150" y="685800"/>
            <a:ext cx="257175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20150" y="1295400"/>
            <a:ext cx="26426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Protocolos y Checklists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820150" y="1590675"/>
            <a:ext cx="258775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Utilizar herramientas estandarizadas que guíen el enfoque del tripulante hacia lo esencial y reduzcan el error humano.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34000" y="3543300"/>
            <a:ext cx="3028950" cy="2857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62600" y="3771900"/>
            <a:ext cx="257175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2600" y="4381500"/>
            <a:ext cx="26426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Conciencia Situacional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62600" y="4676775"/>
            <a:ext cx="258775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visión integral del entorno operativo para identificar y anticipar prioridades rápidamente.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591550" y="3543300"/>
            <a:ext cx="3028950" cy="2857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20150" y="3771900"/>
            <a:ext cx="257175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20150" y="4381500"/>
            <a:ext cx="26426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Técnicas de Mindfulness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820150" y="4676775"/>
            <a:ext cx="258775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la concentración y reducir distracciones, potenciando la claridad mental en momentos de alta exigencia.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5671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 de decisiones bajo presión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1238250"/>
            <a:ext cx="114300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48006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0" cy="257175"/>
          </a:xfrm>
          <a:prstGeom prst="line">
            <a:avLst/>
          </a:prstGeom>
          <a:noFill/>
          <a:ln w="38100">
            <a:solidFill>
              <a:srgbClr val="F573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905000"/>
            <a:ext cx="5001768" cy="265176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Procesos Neuronales Involucrados</a:t>
            </a:r>
            <a:endParaRPr lang="en-US" sz="18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2409825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9200" y="2390775"/>
            <a:ext cx="444398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situaciones críticas, el cerebro activa circuitos de respuesta rápida, priorizando la supervivencia y la evaluación de amenazas.</a:t>
            </a:r>
            <a:endParaRPr lang="en-US" sz="1350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3409950"/>
            <a:ext cx="2667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9200" y="3390900"/>
            <a:ext cx="444398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Corteza prefrontal, sistema límbico e hipocampo procesan información, gestionan estrés y recuerdan protocolos.</a:t>
            </a:r>
            <a:endParaRPr lang="en-US" sz="1350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4410075"/>
            <a:ext cx="266700" cy="266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9200" y="4391025"/>
            <a:ext cx="444398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carga cognitiva y las emociones intensas pueden alterar la percepción y la velocidad de procesamiento, afectando la claridad.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48400" y="1600200"/>
            <a:ext cx="5486400" cy="48006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6553200" y="1905000"/>
            <a:ext cx="0" cy="257175"/>
          </a:xfrm>
          <a:prstGeom prst="line">
            <a:avLst/>
          </a:prstGeom>
          <a:noFill/>
          <a:ln w="38100">
            <a:solidFill>
              <a:srgbClr val="F5732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553200" y="1905000"/>
            <a:ext cx="5001768" cy="265176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Casos de Estudio en Aviación</a:t>
            </a:r>
            <a:endParaRPr lang="en-US" sz="1800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91300" y="2409825"/>
            <a:ext cx="266700" cy="266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10400" y="2390775"/>
            <a:ext cx="444398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Fallos inesperados de sistemas que exigen resoluciones inmediatas con información limitada.</a:t>
            </a:r>
            <a:endParaRPr lang="en-US" sz="1350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91300" y="3152775"/>
            <a:ext cx="266700" cy="266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10400" y="3133725"/>
            <a:ext cx="444398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meteorológicos adversos que requieren desviaciones o aterrizajes de emergencia.</a:t>
            </a:r>
            <a:endParaRPr lang="en-US" sz="1350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91300" y="3895725"/>
            <a:ext cx="266700" cy="2667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10400" y="3876675"/>
            <a:ext cx="444398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formación basada en neurociencia prepara al tripulante para optimizar procesos cognitivos, fortaleciendo la seguridad en vuelo.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4834" y="457200"/>
            <a:ext cx="9582912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Memoria operacional y protocolos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286000" y="1295400"/>
            <a:ext cx="7644384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224088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cerebro almacena y recupera procedimientos para garantizar la máxima seguridad.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7250" y="2038350"/>
            <a:ext cx="5086350" cy="436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7250" y="2066925"/>
            <a:ext cx="5086350" cy="0"/>
          </a:xfrm>
          <a:prstGeom prst="line">
            <a:avLst/>
          </a:prstGeom>
          <a:noFill/>
          <a:ln w="57150">
            <a:solidFill>
              <a:srgbClr val="F57325"/>
            </a:solidFill>
            <a:prstDash val="solid"/>
          </a:ln>
        </p:spPr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95625" y="240030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94239" y="3238500"/>
            <a:ext cx="303580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Almacenamiento y Recuperación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00175" y="3638476"/>
            <a:ext cx="402336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práctica constante consolida los procedimientos en la memoria a largo plazo. Esto facilita una recuperación eficiente y casi automática bajo presión, optimizando la cognición y la toma de decisiones.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48400" y="2038350"/>
            <a:ext cx="5086350" cy="4362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48400" y="2066925"/>
            <a:ext cx="5086350" cy="0"/>
          </a:xfrm>
          <a:prstGeom prst="line">
            <a:avLst/>
          </a:prstGeom>
          <a:noFill/>
          <a:ln w="57150">
            <a:solidFill>
              <a:srgbClr val="F57325"/>
            </a:solidFill>
            <a:prstDash val="solid"/>
          </a:ln>
        </p:spPr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86775" y="2400300"/>
            <a:ext cx="609600" cy="609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0015" y="3238500"/>
            <a:ext cx="334670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Diseño Neurocognitivo de Checklists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791325" y="3638476"/>
            <a:ext cx="402336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checklists, diseñadas con principios neurocognitivos, reducen la carga de la memoria de trabajo. Organizan la información de forma lógica y visual para guiar la atención y minimizar errores críticos.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2240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0" y="6762750"/>
            <a:ext cx="3048000" cy="952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567160" cy="813816"/>
          </a:xfrm>
          <a:prstGeom prst="rect">
            <a:avLst/>
          </a:prstGeom>
          <a:noFill/>
          <a:ln/>
        </p:spPr>
        <p:txBody>
          <a:bodyPr vert="horz" wrap="none" lIns="0" tIns="0" rIns="0" bIns="152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Ritmos circadianos y fatiga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1209675"/>
            <a:ext cx="114300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71625"/>
            <a:ext cx="4328071" cy="4829175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0161" y="2599432"/>
            <a:ext cx="762000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6484" y="3790057"/>
            <a:ext cx="38130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Impacto en el Rendimiento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3860" y="4276725"/>
            <a:ext cx="3739896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cruce de zonas horarias desincroniza el reloj biológico, afectando la atención, memoria y reacción. Esta fatiga compromete la seguridad operacional.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42471" y="1571625"/>
            <a:ext cx="3131790" cy="23002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71071" y="1800225"/>
            <a:ext cx="2676525" cy="438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0103" y="2466975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Aclimatación Gradual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70103" y="2762250"/>
            <a:ext cx="26974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horarios de sueño y comidas días antes del vuelo para preparar al cuerpo.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02861" y="1571625"/>
            <a:ext cx="3131939" cy="23002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31461" y="1800225"/>
            <a:ext cx="2676525" cy="4381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30568" y="2466975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Hidratación Constante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830568" y="2762250"/>
            <a:ext cx="26974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 abundante agua. Moderar el consumo de cafeína y alcohol durante el viaje.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242471" y="4100513"/>
            <a:ext cx="3131790" cy="23002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71071" y="4329113"/>
            <a:ext cx="2676525" cy="4381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70103" y="4995863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Exposición a la Luz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470103" y="5291138"/>
            <a:ext cx="26974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Utilizar la luz natural del destino para ayudar a realinear el ciclo de sueño-vigilia.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602861" y="4100513"/>
            <a:ext cx="3131939" cy="23002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31461" y="4329113"/>
            <a:ext cx="2676525" cy="4381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30568" y="4995863"/>
            <a:ext cx="2752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Descanso de Calidad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830568" y="5291138"/>
            <a:ext cx="26974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el sueño reparador en un ambiente oscuro, tranquilo y con temperatura adecuada.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33400" y="533400"/>
            <a:ext cx="0" cy="502890"/>
          </a:xfrm>
          <a:prstGeom prst="line">
            <a:avLst/>
          </a:prstGeom>
          <a:noFill/>
          <a:ln w="47625">
            <a:solidFill>
              <a:srgbClr val="F573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3425" y="532433"/>
            <a:ext cx="11192256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Comunicación efectiva en cabina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3400" y="1341090"/>
            <a:ext cx="5410200" cy="49835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583978"/>
            <a:ext cx="38100" cy="22860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569690"/>
            <a:ext cx="5038344" cy="265176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Bases Neuronales de la Asertividad</a:t>
            </a:r>
            <a:endParaRPr lang="en-US" sz="18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169765"/>
            <a:ext cx="304800" cy="3333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9200" y="2131665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Corteza Prefrontal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19200" y="2407890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 la expresión clara y respetuosa, crucial para el liderazgo y la resolución de conflictos.</a:t>
            </a:r>
            <a:endParaRPr lang="en-US" sz="1200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2000" y="3131790"/>
            <a:ext cx="304800" cy="3333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19200" y="3093690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 Emocional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19200" y="3369915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interacción entre amígdala y CPF permite mantener la calma bajo presión, evitando malentendidos.</a:t>
            </a:r>
            <a:endParaRPr lang="en-US" sz="1200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000" y="4093815"/>
            <a:ext cx="304800" cy="3333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19200" y="4055715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la Interacción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19200" y="4331940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entendimiento de estos procesos fortalece la seguridad en la interacción entre tripulantes y pasajeros.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48400" y="1341090"/>
            <a:ext cx="5410200" cy="49835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477000" y="1583978"/>
            <a:ext cx="38100" cy="22860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515100" y="1569690"/>
            <a:ext cx="5038344" cy="265176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Ejercicios para la Claridad Crítica</a:t>
            </a:r>
            <a:endParaRPr lang="en-US" sz="1800" dirty="0"/>
          </a:p>
        </p:txBody>
      </p:sp>
      <p:pic>
        <p:nvPicPr>
          <p:cNvPr id="2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7000" y="2169765"/>
            <a:ext cx="304800" cy="3333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34200" y="2131665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Simulacros de Escenarios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34200" y="2407890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Practicar órdenes concisas y unívocas en situaciones de emergencia simuladas.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629400" y="3093690"/>
            <a:ext cx="491947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Escucha Activa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629400" y="3369915"/>
            <a:ext cx="48188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la concentración para procesar cada detalle y minimizar la carga cognitiva.</a:t>
            </a:r>
            <a:endParaRPr lang="en-US" sz="1200" dirty="0"/>
          </a:p>
        </p:txBody>
      </p:sp>
      <p:pic>
        <p:nvPicPr>
          <p:cNvPr id="25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0" y="4093815"/>
            <a:ext cx="304800" cy="3333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34200" y="4055715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Protocolos Estructurados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934200" y="4331940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formatos para transmitir información vital de forma rápida y sin ambigüedades.</a:t>
            </a:r>
            <a:endParaRPr lang="en-US" sz="1200" dirty="0"/>
          </a:p>
        </p:txBody>
      </p:sp>
      <p:pic>
        <p:nvPicPr>
          <p:cNvPr id="28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5055840"/>
            <a:ext cx="304800" cy="3333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34200" y="5017740"/>
            <a:ext cx="460857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Post-Ejercicio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6934200" y="5293965"/>
            <a:ext cx="451713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Reflexionar sobre el impacto del estrés para ajustar estrategias de comunicación.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79345" y="533400"/>
            <a:ext cx="7488936" cy="713232"/>
          </a:xfrm>
          <a:prstGeom prst="rect">
            <a:avLst/>
          </a:prstGeom>
          <a:noFill/>
          <a:ln/>
        </p:spPr>
        <p:txBody>
          <a:bodyPr vert="horz" wrap="none" lIns="0" tIns="0" rIns="0" bIns="15240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Neurotecnologías en Entrenamiento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5619750" y="1181100"/>
            <a:ext cx="95250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619250"/>
            <a:ext cx="52959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52750" y="1895475"/>
            <a:ext cx="609600" cy="666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8268" y="2838450"/>
            <a:ext cx="316382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Simuladores y Realidad Virtual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4425" y="3248918"/>
            <a:ext cx="4306824" cy="1097280"/>
          </a:xfrm>
          <a:prstGeom prst="rect">
            <a:avLst/>
          </a:prstGeom>
          <a:noFill/>
          <a:ln/>
        </p:spPr>
        <p:txBody>
          <a:bodyPr vert="horz" wrap="square" lIns="76200" tIns="0" rIns="7620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practicar la percepción espacial, la toma de decisiones rápidas y la gestión de la carga cognitiva en escenarios realistas y seguros, preparando eficazmente a la tripulación.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86500" y="1619250"/>
            <a:ext cx="52959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773145" y="2838450"/>
            <a:ext cx="235000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Mejora de la Retención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791325" y="3248918"/>
            <a:ext cx="4306824" cy="1097280"/>
          </a:xfrm>
          <a:prstGeom prst="rect">
            <a:avLst/>
          </a:prstGeom>
          <a:noFill/>
          <a:ln/>
        </p:spPr>
        <p:txBody>
          <a:bodyPr vert="horz" wrap="square" lIns="76200" tIns="0" rIns="7620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neuroeducación en entornos inmersivos potencia la atención y optimiza la consolidación del aprendizaje procedimental y la memoria a largo plazo, elevando la efectividad de la formación.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2240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0" y="6762750"/>
            <a:ext cx="3048000" cy="952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391924"/>
            <a:ext cx="3400425" cy="1343025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882" y="450208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333500"/>
            <a:ext cx="11277600" cy="0"/>
          </a:xfrm>
          <a:prstGeom prst="line">
            <a:avLst/>
          </a:prstGeom>
          <a:noFill/>
          <a:ln w="38100">
            <a:solidFill>
              <a:srgbClr val="F573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3853" y="457200"/>
            <a:ext cx="115671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Liderazgo basado en neurociencia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57200" y="1657350"/>
            <a:ext cx="5486400" cy="520065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85950"/>
            <a:ext cx="5056632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Características Cerebrales de Líderes Efectivos en Crisis</a:t>
            </a:r>
            <a:endParaRPr lang="en-US" sz="165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590800"/>
            <a:ext cx="3048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60985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Regulación Emocional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296227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control de la amígdala por la corteza prefrontal, permitiendo mantener la calma y la objetividad.</a:t>
            </a:r>
            <a:endParaRPr lang="en-US" sz="1125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600450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61950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 de Decisiones Ágil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43000" y="397192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neuronales eficientes para procesar información y elegir la mejor acción bajo presión extrema.</a:t>
            </a:r>
            <a:endParaRPr lang="en-US" sz="1125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4610100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62915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Flexibilidad Cognitiva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43000" y="498157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del cerebro para adaptarse rápidamente a escenarios inesperados y buscar soluciones innovadoras.</a:t>
            </a:r>
            <a:endParaRPr lang="en-US" sz="1125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5619750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563880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Resiliencia Neural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43000" y="599122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Circuitos cerebrales fortalecidos para recuperarse del estrés y mantener el rendimiento.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6248400" y="1657350"/>
            <a:ext cx="5486400" cy="520065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426498" y="1885950"/>
            <a:ext cx="515721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Talleres Prácticos para Desarrollar Habilidades</a:t>
            </a:r>
            <a:endParaRPr lang="en-US" sz="1650" dirty="0"/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0" y="2343150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34200" y="236220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Simulaciones de Crisis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934200" y="271462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Experiencias controladas para entrenar la toma de decisiones y la gestión emocional en tiempo real.</a:t>
            </a:r>
            <a:endParaRPr lang="en-US" sz="1125" dirty="0"/>
          </a:p>
        </p:txBody>
      </p:sp>
      <p:pic>
        <p:nvPicPr>
          <p:cNvPr id="25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3352800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34200" y="337185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Mindfulness y Manejo del Estrés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934200" y="372427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para mejorar la concentración, reducir la ansiedad y optimizar la función cerebral.</a:t>
            </a:r>
            <a:endParaRPr lang="en-US" sz="1125" dirty="0"/>
          </a:p>
        </p:txBody>
      </p:sp>
      <p:pic>
        <p:nvPicPr>
          <p:cNvPr id="28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7000" y="4362450"/>
            <a:ext cx="304800" cy="3048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34200" y="438150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Entrenamiento en Regulación Emocional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934200" y="473392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que fortalecen la capacidad de mantener la serenidad y la claridad mental.</a:t>
            </a:r>
            <a:endParaRPr lang="en-US" sz="1125" dirty="0"/>
          </a:p>
        </p:txBody>
      </p:sp>
      <p:pic>
        <p:nvPicPr>
          <p:cNvPr id="31" name="Image 7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7000" y="5372100"/>
            <a:ext cx="304800" cy="3048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34200" y="5391150"/>
            <a:ext cx="468172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Desarrollo de la Flexibilidad Cognitiva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6934200" y="5743575"/>
            <a:ext cx="4590288" cy="429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diseñadas para potenciar la adaptabilidad y la resolución creativa de problemas.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4749" y="457200"/>
            <a:ext cx="10945368" cy="6583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Bienestar mental en tripulaciones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524500" y="1266825"/>
            <a:ext cx="114300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870254"/>
            <a:ext cx="5181600" cy="454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59987" y="3219450"/>
            <a:ext cx="361188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Mindfulness Adaptado a la Aviación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2550" y="3707085"/>
            <a:ext cx="4023360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Estrategias implementadas por fuerzas aéreas (FACH, USAF) para potenciar la salud mental y el rendimiento en entornos de alta exigencia.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48400" y="1857375"/>
            <a:ext cx="5181600" cy="454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633553" y="3219450"/>
            <a:ext cx="44348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Evidencia Científica y Reducción de Errores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38950" y="3706118"/>
            <a:ext cx="402336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neurociencia aplicada analiza procesos cognitivos para mejorar la toma de decisiones. El entrenamiento optimiza la respuesta y contribuye a disminuir los errores humanos.</a:t>
            </a:r>
            <a:endParaRPr lang="en-US" sz="135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1469351"/>
            <a:ext cx="2705100" cy="168592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029" y="1448371"/>
            <a:ext cx="325755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558016" cy="768096"/>
          </a:xfrm>
          <a:prstGeom prst="rect">
            <a:avLst/>
          </a:prstGeom>
          <a:noFill/>
          <a:ln/>
        </p:spPr>
        <p:txBody>
          <a:bodyPr vert="horz" wrap="none" lIns="0" tIns="0" rIns="0" bIns="152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Casos de éxito en Chile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1143000" cy="57150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866900"/>
            <a:ext cx="3555950" cy="0"/>
          </a:xfrm>
          <a:prstGeom prst="line">
            <a:avLst/>
          </a:prstGeom>
          <a:noFill/>
          <a:ln w="19050">
            <a:solidFill>
              <a:srgbClr val="E8ED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8763" y="1524000"/>
            <a:ext cx="36484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Fuerza Aérea de Chile (FACH)</a:t>
            </a:r>
            <a:endParaRPr lang="en-US" sz="1800" dirty="0"/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295525"/>
            <a:ext cx="342900" cy="3714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4063" y="2257425"/>
            <a:ext cx="31455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Investigación y Desarrollo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4063" y="2552700"/>
            <a:ext cx="30815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Seminarios y visitas a centros de neurociencia para fortalecer el rendimiento y bienestar de los aviadores militares.</a:t>
            </a:r>
            <a:endParaRPr lang="en-US" sz="1200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505200"/>
            <a:ext cx="342900" cy="3714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4063" y="3467100"/>
            <a:ext cx="31455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Salud Mental y Liderazgo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54063" y="3762375"/>
            <a:ext cx="30815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mindfulness y neurociencia para potenciar el liderazgo y la salud mental en entornos de alta exigencia.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17950" y="1866900"/>
            <a:ext cx="3555950" cy="0"/>
          </a:xfrm>
          <a:prstGeom prst="line">
            <a:avLst/>
          </a:prstGeom>
          <a:noFill/>
          <a:ln w="19050">
            <a:solidFill>
              <a:srgbClr val="E8EDF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19513" y="1524000"/>
            <a:ext cx="36484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Aviación Civil y Formación</a:t>
            </a:r>
            <a:endParaRPr lang="en-US" sz="1800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17950" y="2295525"/>
            <a:ext cx="342900" cy="3714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14813" y="2257425"/>
            <a:ext cx="31455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Formación Innovadora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14813" y="2552700"/>
            <a:ext cx="30815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 del primer curso en LatAm sobre Factores Humanos y Neurociencia Aplicada en la aviación.</a:t>
            </a:r>
            <a:endParaRPr lang="en-US" sz="1200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17950" y="3505200"/>
            <a:ext cx="342900" cy="3714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14813" y="3467100"/>
            <a:ext cx="31455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Recursos Didácticos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814813" y="3762375"/>
            <a:ext cx="30815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de manuales especializados como "Cerebro de Vuelo" para integrar la neurociencia en la toma de decisiones.</a:t>
            </a:r>
            <a:endParaRPr lang="en-US" sz="1200" dirty="0"/>
          </a:p>
        </p:txBody>
      </p:sp>
      <p:pic>
        <p:nvPicPr>
          <p:cNvPr id="21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17950" y="4714875"/>
            <a:ext cx="342900" cy="3714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14813" y="4676775"/>
            <a:ext cx="31455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Neuroeducación en Entrenamiento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814813" y="4972050"/>
            <a:ext cx="30815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la percepción espacial, gestión de la carga cognitiva y resiliencia para la seguridad aérea.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178701" y="1524000"/>
            <a:ext cx="3556099" cy="4876800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8"/>
          <p:cNvSpPr/>
          <p:nvPr/>
        </p:nvSpPr>
        <p:spPr>
          <a:xfrm>
            <a:off x="8407301" y="2095500"/>
            <a:ext cx="3098899" cy="0"/>
          </a:xfrm>
          <a:prstGeom prst="line">
            <a:avLst/>
          </a:prstGeom>
          <a:noFill/>
          <a:ln w="19050">
            <a:solidFill>
              <a:srgbClr val="E8EDF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408938" y="1752600"/>
            <a:ext cx="31821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Impacto en la Seguridad</a:t>
            </a:r>
            <a:endParaRPr lang="en-US" sz="1800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75750" y="3152775"/>
            <a:ext cx="762000" cy="8286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61263" y="4133776"/>
            <a:ext cx="2816352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iniciativas conducen a una mejora continua en los indicadores de seguridad, reduciendo errores humanos y aumentando la capacidad de respuesta efectiva.</a:t>
            </a:r>
            <a:endParaRPr lang="en-US" sz="1350" dirty="0"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149" y="4610882"/>
            <a:ext cx="1187500" cy="2093935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9950" y="4887554"/>
            <a:ext cx="15811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853" y="304800"/>
            <a:ext cx="11567160" cy="813816"/>
          </a:xfrm>
          <a:prstGeom prst="rect">
            <a:avLst/>
          </a:prstGeom>
          <a:noFill/>
          <a:ln/>
        </p:spPr>
        <p:txBody>
          <a:bodyPr vert="horz" wrap="none" lIns="0" tIns="0" rIns="0" bIns="15240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Futuro de la neuroaviación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619750" y="1066800"/>
            <a:ext cx="952500" cy="47625"/>
          </a:xfrm>
          <a:prstGeom prst="rect">
            <a:avLst/>
          </a:prstGeom>
          <a:solidFill>
            <a:srgbClr val="F5732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43025"/>
            <a:ext cx="5486400" cy="52101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1981200"/>
            <a:ext cx="5029200" cy="0"/>
          </a:xfrm>
          <a:prstGeom prst="line">
            <a:avLst/>
          </a:prstGeom>
          <a:noFill/>
          <a:ln w="19050">
            <a:solidFill>
              <a:srgbClr val="F573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1625"/>
            <a:ext cx="515721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Tendencias Emergentes en Investigación</a:t>
            </a:r>
            <a:endParaRPr lang="en-US" sz="165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314575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800" y="22955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en neurociencia social y cognitiva para el rendimiento de tripulantes.</a:t>
            </a:r>
            <a:endParaRPr lang="en-US" sz="1200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00037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6800" y="29813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la toma de decisiones, percepción espacial y gestión de la carga cognitiva.</a:t>
            </a:r>
            <a:endParaRPr lang="en-US" sz="1200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3686175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6800" y="36671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mindfulness y neuropsicología para la salud mental y resiliencia.</a:t>
            </a:r>
            <a:endParaRPr lang="en-US" sz="120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4371975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6800" y="43529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neuroeducación para entrenamiento y diseño de interfaces en cabina.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48400" y="1343025"/>
            <a:ext cx="5486400" cy="5210175"/>
          </a:xfrm>
          <a:prstGeom prst="rect">
            <a:avLst/>
          </a:prstGeom>
          <a:solidFill>
            <a:srgbClr val="E8ED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6477000" y="1981200"/>
            <a:ext cx="5029200" cy="0"/>
          </a:xfrm>
          <a:prstGeom prst="line">
            <a:avLst/>
          </a:prstGeom>
          <a:noFill/>
          <a:ln w="19050">
            <a:solidFill>
              <a:srgbClr val="F5732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77000" y="1571625"/>
            <a:ext cx="515721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240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Oportunidades para la Aviación</a:t>
            </a:r>
            <a:endParaRPr lang="en-US" sz="1650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7000" y="2314575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22955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estratégica entre fuerzas aéreas y universidades para la innovación.</a:t>
            </a:r>
            <a:endParaRPr lang="en-US" sz="1200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3000375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0" y="29813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programas educativos pioneros en Factores Humanos y Neurociencia Aplicada.</a:t>
            </a:r>
            <a:endParaRPr lang="en-US" sz="1200" dirty="0"/>
          </a:p>
        </p:txBody>
      </p:sp>
      <p:pic>
        <p:nvPicPr>
          <p:cNvPr id="23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7000" y="3686175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0" y="36671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Seminarios y publicaciones especializadas para fomentar el intercambio de conocimiento regional.</a:t>
            </a:r>
            <a:endParaRPr lang="en-US" sz="1200" dirty="0"/>
          </a:p>
        </p:txBody>
      </p:sp>
      <p:pic>
        <p:nvPicPr>
          <p:cNvPr id="25" name="Image 7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7000" y="4371975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58000" y="4352925"/>
            <a:ext cx="46725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24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en seguridad operacional, liderazgo y bienestar de tripulaciones civiles y militares.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1670</Words>
  <Application>Microsoft Office PowerPoint</Application>
  <PresentationFormat>Panorámica</PresentationFormat>
  <Paragraphs>202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等线</vt:lpstr>
      <vt:lpstr>等线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</cp:lastModifiedBy>
  <cp:revision>4</cp:revision>
  <dcterms:created xsi:type="dcterms:W3CDTF">2026-05-18T04:01:36Z</dcterms:created>
  <dcterms:modified xsi:type="dcterms:W3CDTF">2026-05-18T04:27:23Z</dcterms:modified>
</cp:coreProperties>
</file>